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kzidenz-Grotesk Bold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IBM Plex Mono" panose="020B0509050203000203" pitchFamily="49" charset="0"/>
      <p:regular r:id="rId24"/>
      <p:bold r:id="rId25"/>
      <p:italic r:id="rId26"/>
      <p:boldItalic r:id="rId27"/>
    </p:embeddedFont>
    <p:embeddedFont>
      <p:font typeface="IBM Plex Mono Bold" panose="020B0809050203000203" charset="0"/>
      <p:regular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Open Sans Bold" panose="020B0806030504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eniac_pc_hero_1789691539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0"/>
            <a:ext cx="97155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7239000" y="0"/>
            <a:ext cx="4953000" cy="10287000"/>
            <a:chOff x="0" y="0"/>
            <a:chExt cx="660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0" cy="13716000"/>
            </a:xfrm>
            <a:custGeom>
              <a:avLst/>
              <a:gdLst/>
              <a:ahLst/>
              <a:cxnLst/>
              <a:rect l="l" t="t" r="r" b="b"/>
              <a:pathLst>
                <a:path w="6604000" h="13716000">
                  <a:moveTo>
                    <a:pt x="0" y="0"/>
                  </a:moveTo>
                  <a:lnTo>
                    <a:pt x="6604000" y="0"/>
                  </a:lnTo>
                  <a:lnTo>
                    <a:pt x="660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426">
                <a:alpha val="8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33350" cy="10287000"/>
            <a:chOff x="0" y="0"/>
            <a:chExt cx="1778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800" cy="13716000"/>
            </a:xfrm>
            <a:custGeom>
              <a:avLst/>
              <a:gdLst/>
              <a:ahLst/>
              <a:cxnLst/>
              <a:rect l="l" t="t" r="r" b="b"/>
              <a:pathLst>
                <a:path w="177800" h="13716000">
                  <a:moveTo>
                    <a:pt x="0" y="0"/>
                  </a:moveTo>
                  <a:lnTo>
                    <a:pt x="177800" y="0"/>
                  </a:lnTo>
                  <a:lnTo>
                    <a:pt x="177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78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400" y="1228725"/>
            <a:ext cx="619125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1" spc="234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PLATAFORMA DISTRIBUIDA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1905000"/>
            <a:ext cx="7239000" cy="324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112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ENIAC</a:t>
            </a:r>
          </a:p>
          <a:p>
            <a:pPr algn="l">
              <a:lnSpc>
                <a:spcPts val="11700"/>
              </a:lnSpc>
            </a:pPr>
            <a:r>
              <a:rPr lang="en-US" sz="112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Labs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5438775"/>
            <a:ext cx="6477000" cy="95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Comercio electrónico y PC Builder Gamer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7810500"/>
            <a:ext cx="6191250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1E6A1"/>
                </a:solidFill>
                <a:latin typeface="Open Sans"/>
                <a:ea typeface="Open Sans"/>
                <a:cs typeface="Open Sans"/>
                <a:sym typeface="Open Sans"/>
              </a:rPr>
              <a:t>Eliceo Parillo  ×  Laura Vargas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1E6A1"/>
                </a:solidFill>
                <a:latin typeface="Open Sans"/>
                <a:ea typeface="Open Sans"/>
                <a:cs typeface="Open Sans"/>
                <a:sym typeface="Open Sans"/>
              </a:rPr>
              <a:t>18 de septiembre de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96500" y="0"/>
            <a:ext cx="8191500" cy="10287000"/>
          </a:xfrm>
          <a:custGeom>
            <a:avLst/>
            <a:gdLst/>
            <a:ahLst/>
            <a:cxnLst/>
            <a:rect l="l" t="t" r="r" b="b"/>
            <a:pathLst>
              <a:path w="8191500" h="10287000">
                <a:moveTo>
                  <a:pt x="0" y="0"/>
                </a:moveTo>
                <a:lnTo>
                  <a:pt x="8191500" y="0"/>
                </a:lnTo>
                <a:lnTo>
                  <a:pt x="8191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" b="-81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9829800" y="0"/>
            <a:ext cx="266700" cy="10287000"/>
            <a:chOff x="0" y="0"/>
            <a:chExt cx="3556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5600" cy="13716000"/>
            </a:xfrm>
            <a:custGeom>
              <a:avLst/>
              <a:gdLst/>
              <a:ahLst/>
              <a:cxnLst/>
              <a:rect l="l" t="t" r="r" b="b"/>
              <a:pathLst>
                <a:path w="355600" h="13716000">
                  <a:moveTo>
                    <a:pt x="0" y="0"/>
                  </a:moveTo>
                  <a:lnTo>
                    <a:pt x="355600" y="0"/>
                  </a:lnTo>
                  <a:lnTo>
                    <a:pt x="355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56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771525"/>
            <a:ext cx="76200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EL COSTO DE EQUIVOCARSE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1304925"/>
            <a:ext cx="8001000" cy="146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510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Desafíos actuales del comercio de hardware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4048125"/>
            <a:ext cx="3810000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11250" b="1">
                <a:solidFill>
                  <a:srgbClr val="FF5F6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68%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95750" y="4448175"/>
            <a:ext cx="4857750" cy="74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0243D"/>
                </a:solidFill>
                <a:latin typeface="Open Sans"/>
                <a:ea typeface="Open Sans"/>
                <a:cs typeface="Open Sans"/>
                <a:sym typeface="Open Sans"/>
              </a:rPr>
              <a:t>de compradores cometen errores técnicos por incompatibilidad.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7750" y="6858000"/>
            <a:ext cx="3714750" cy="2047875"/>
            <a:chOff x="0" y="0"/>
            <a:chExt cx="4953000" cy="27305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953000" cy="2730500"/>
              <a:chOff x="0" y="0"/>
              <a:chExt cx="4953000" cy="2730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953000" cy="2730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27305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730500"/>
                    </a:lnTo>
                    <a:lnTo>
                      <a:pt x="0" y="2730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953000" cy="2768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81000" y="371475"/>
              <a:ext cx="4191000" cy="4199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6"/>
                </a:lnSpc>
              </a:pPr>
              <a:r>
                <a:rPr lang="en-US" sz="2025" b="1">
                  <a:solidFill>
                    <a:srgbClr val="10243D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Picos de demanda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000" y="996950"/>
              <a:ext cx="4191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668198"/>
                  </a:solidFill>
                  <a:latin typeface="Open Sans"/>
                  <a:ea typeface="Open Sans"/>
                  <a:cs typeface="Open Sans"/>
                  <a:sym typeface="Open Sans"/>
                </a:rPr>
                <a:t>Monolitos que colapsan en CyberDays y lanzamientos.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0" y="6858000"/>
            <a:ext cx="3714750" cy="2047875"/>
            <a:chOff x="0" y="0"/>
            <a:chExt cx="4953000" cy="27305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953000" cy="2730500"/>
              <a:chOff x="0" y="0"/>
              <a:chExt cx="4953000" cy="2730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953000" cy="2730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27305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730500"/>
                    </a:lnTo>
                    <a:lnTo>
                      <a:pt x="0" y="2730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4953000" cy="2768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81000" y="371475"/>
              <a:ext cx="4191000" cy="4199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6"/>
                </a:lnSpc>
              </a:pPr>
              <a:r>
                <a:rPr lang="en-US" sz="2025" b="1">
                  <a:solidFill>
                    <a:srgbClr val="10243D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Cotización manual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1000" y="996950"/>
              <a:ext cx="4191000" cy="762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668198"/>
                  </a:solidFill>
                  <a:latin typeface="Open Sans"/>
                  <a:ea typeface="Open Sans"/>
                  <a:cs typeface="Open Sans"/>
                  <a:sym typeface="Open Sans"/>
                </a:rPr>
                <a:t>Sin integración fiscal ni pagos automáticos.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6819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02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52475"/>
            <a:ext cx="8572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UNA SOLA EXPERIENCIA, CUATRO SERVICIOS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257300"/>
            <a:ext cx="12573000" cy="1690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58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Plataforma distribuida.</a:t>
            </a:r>
          </a:p>
          <a:p>
            <a:pPr algn="l">
              <a:lnSpc>
                <a:spcPts val="6084"/>
              </a:lnSpc>
            </a:pPr>
            <a:r>
              <a:rPr lang="en-US" sz="58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PC Builder inteligente.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11250" y="1209675"/>
            <a:ext cx="3429000" cy="1007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08"/>
              </a:lnSpc>
            </a:pPr>
            <a:r>
              <a:rPr lang="en-US" sz="6450" b="1">
                <a:solidFill>
                  <a:srgbClr val="31E6A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28 ms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4400" y="4476750"/>
            <a:ext cx="5048250" cy="3714750"/>
            <a:chOff x="0" y="0"/>
            <a:chExt cx="6731000" cy="4953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731000" cy="4953000"/>
              <a:chOff x="0" y="0"/>
              <a:chExt cx="6731000" cy="4953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731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4953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024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6731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6731000" cy="88900"/>
              <a:chOff x="0" y="0"/>
              <a:chExt cx="6731000" cy="88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7310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889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27D9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731000" cy="12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31800" y="508000"/>
              <a:ext cx="1143000" cy="377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3"/>
                </a:lnSpc>
              </a:pPr>
              <a:r>
                <a:rPr lang="en-US" sz="1875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800" y="1314450"/>
              <a:ext cx="5969000" cy="547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62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Compatibilidad 100%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800" y="2965450"/>
              <a:ext cx="5969000" cy="78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A9BFD0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 socket, formato físico y consumo energético.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19850" y="4476750"/>
            <a:ext cx="5048250" cy="3714750"/>
            <a:chOff x="0" y="0"/>
            <a:chExt cx="6731000" cy="4953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731000" cy="4953000"/>
              <a:chOff x="0" y="0"/>
              <a:chExt cx="6731000" cy="4953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731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4953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024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731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6731000" cy="88900"/>
              <a:chOff x="0" y="0"/>
              <a:chExt cx="6731000" cy="889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7310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889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27D9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731000" cy="12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31800" y="508000"/>
              <a:ext cx="1143000" cy="377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3"/>
                </a:lnSpc>
              </a:pPr>
              <a:r>
                <a:rPr lang="en-US" sz="1875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1800" y="1314450"/>
              <a:ext cx="5969000" cy="547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62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Microservicios aislados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1800" y="2965450"/>
              <a:ext cx="5969000" cy="78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A9BFD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Servicios desacoplados y bases de datos independientes.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925300" y="4476750"/>
            <a:ext cx="5048250" cy="3714750"/>
            <a:chOff x="0" y="0"/>
            <a:chExt cx="6731000" cy="4953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6731000" cy="4953000"/>
              <a:chOff x="0" y="0"/>
              <a:chExt cx="6731000" cy="4953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731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4953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024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6731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0"/>
              <a:ext cx="6731000" cy="88900"/>
              <a:chOff x="0" y="0"/>
              <a:chExt cx="6731000" cy="889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7310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889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8900"/>
                    </a:lnTo>
                    <a:lnTo>
                      <a:pt x="0" y="88900"/>
                    </a:lnTo>
                    <a:close/>
                  </a:path>
                </a:pathLst>
              </a:custGeom>
              <a:solidFill>
                <a:srgbClr val="31E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731000" cy="127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431800" y="508000"/>
              <a:ext cx="1143000" cy="377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3"/>
                </a:lnSpc>
              </a:pPr>
              <a:r>
                <a:rPr lang="en-US" sz="1875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1800" y="1314450"/>
              <a:ext cx="5969000" cy="547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62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Checkout en 1 clic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800" y="2965450"/>
              <a:ext cx="5969000" cy="78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A9BFD0"/>
                  </a:solidFill>
                  <a:latin typeface="Open Sans"/>
                  <a:ea typeface="Open Sans"/>
                  <a:cs typeface="Open Sans"/>
                  <a:sym typeface="Open Sans"/>
                </a:rPr>
                <a:t>IGV automático y pago integrado de extremo a extremo.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03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6275"/>
            <a:ext cx="47625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DISEÑO POR DOMINIOS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81100"/>
            <a:ext cx="14287500" cy="73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Arquitectura especializada de microservicios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57250" y="3429000"/>
            <a:ext cx="3619500" cy="1428750"/>
            <a:chOff x="0" y="0"/>
            <a:chExt cx="4826000" cy="190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26000" cy="1905000"/>
            </a:xfrm>
            <a:custGeom>
              <a:avLst/>
              <a:gdLst/>
              <a:ahLst/>
              <a:cxnLst/>
              <a:rect l="l" t="t" r="r" b="b"/>
              <a:pathLst>
                <a:path w="4826000" h="1905000">
                  <a:moveTo>
                    <a:pt x="40105" y="0"/>
                  </a:moveTo>
                  <a:lnTo>
                    <a:pt x="4785895" y="0"/>
                  </a:lnTo>
                  <a:cubicBezTo>
                    <a:pt x="4808044" y="0"/>
                    <a:pt x="4826000" y="17956"/>
                    <a:pt x="4826000" y="40105"/>
                  </a:cubicBezTo>
                  <a:lnTo>
                    <a:pt x="4826000" y="1864895"/>
                  </a:lnTo>
                  <a:cubicBezTo>
                    <a:pt x="4826000" y="1887044"/>
                    <a:pt x="4808044" y="1905000"/>
                    <a:pt x="4785895" y="1905000"/>
                  </a:cubicBezTo>
                  <a:lnTo>
                    <a:pt x="40105" y="1905000"/>
                  </a:lnTo>
                  <a:cubicBezTo>
                    <a:pt x="17956" y="1905000"/>
                    <a:pt x="0" y="1887044"/>
                    <a:pt x="0" y="1864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4826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pc-catalogo-ms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57250" y="5086350"/>
            <a:ext cx="3619500" cy="31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2025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Catálogo + stock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5495925"/>
            <a:ext cx="361950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668198"/>
                </a:solidFill>
                <a:latin typeface="Open Sans"/>
                <a:ea typeface="Open Sans"/>
                <a:cs typeface="Open Sans"/>
                <a:sym typeface="Open Sans"/>
              </a:rPr>
              <a:t>Eliceo Parillo</a:t>
            </a:r>
          </a:p>
        </p:txBody>
      </p:sp>
      <p:sp>
        <p:nvSpPr>
          <p:cNvPr id="9" name="AutoShape 9"/>
          <p:cNvSpPr/>
          <p:nvPr/>
        </p:nvSpPr>
        <p:spPr>
          <a:xfrm>
            <a:off x="4476750" y="4143375"/>
            <a:ext cx="714375" cy="0"/>
          </a:xfrm>
          <a:prstGeom prst="line">
            <a:avLst/>
          </a:prstGeom>
          <a:ln w="38100" cap="rnd">
            <a:solidFill>
              <a:srgbClr val="31E6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5191125" y="3429000"/>
            <a:ext cx="3619500" cy="1428750"/>
            <a:chOff x="0" y="0"/>
            <a:chExt cx="4826000" cy="190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26000" cy="1905000"/>
            </a:xfrm>
            <a:custGeom>
              <a:avLst/>
              <a:gdLst/>
              <a:ahLst/>
              <a:cxnLst/>
              <a:rect l="l" t="t" r="r" b="b"/>
              <a:pathLst>
                <a:path w="4826000" h="1905000">
                  <a:moveTo>
                    <a:pt x="40105" y="0"/>
                  </a:moveTo>
                  <a:lnTo>
                    <a:pt x="4785895" y="0"/>
                  </a:lnTo>
                  <a:cubicBezTo>
                    <a:pt x="4808044" y="0"/>
                    <a:pt x="4826000" y="17956"/>
                    <a:pt x="4826000" y="40105"/>
                  </a:cubicBezTo>
                  <a:lnTo>
                    <a:pt x="4826000" y="1864895"/>
                  </a:lnTo>
                  <a:cubicBezTo>
                    <a:pt x="4826000" y="1887044"/>
                    <a:pt x="4808044" y="1905000"/>
                    <a:pt x="4785895" y="1905000"/>
                  </a:cubicBezTo>
                  <a:lnTo>
                    <a:pt x="40105" y="1905000"/>
                  </a:lnTo>
                  <a:cubicBezTo>
                    <a:pt x="17956" y="1905000"/>
                    <a:pt x="0" y="1887044"/>
                    <a:pt x="0" y="1864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4826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pc-orden-ms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191125" y="5086350"/>
            <a:ext cx="3619500" cy="31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2025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Orden + IGV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91125" y="5495925"/>
            <a:ext cx="361950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668198"/>
                </a:solidFill>
                <a:latin typeface="Open Sans"/>
                <a:ea typeface="Open Sans"/>
                <a:cs typeface="Open Sans"/>
                <a:sym typeface="Open Sans"/>
              </a:rPr>
              <a:t>Eliceo Parillo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810625" y="4143375"/>
            <a:ext cx="714375" cy="0"/>
          </a:xfrm>
          <a:prstGeom prst="line">
            <a:avLst/>
          </a:prstGeom>
          <a:ln w="38100" cap="rnd">
            <a:solidFill>
              <a:srgbClr val="31E6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6" name="Group 16"/>
          <p:cNvGrpSpPr/>
          <p:nvPr/>
        </p:nvGrpSpPr>
        <p:grpSpPr>
          <a:xfrm>
            <a:off x="9525000" y="3429000"/>
            <a:ext cx="3619500" cy="1428750"/>
            <a:chOff x="0" y="0"/>
            <a:chExt cx="48260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26000" cy="1905000"/>
            </a:xfrm>
            <a:custGeom>
              <a:avLst/>
              <a:gdLst/>
              <a:ahLst/>
              <a:cxnLst/>
              <a:rect l="l" t="t" r="r" b="b"/>
              <a:pathLst>
                <a:path w="4826000" h="1905000">
                  <a:moveTo>
                    <a:pt x="40105" y="0"/>
                  </a:moveTo>
                  <a:lnTo>
                    <a:pt x="4785895" y="0"/>
                  </a:lnTo>
                  <a:cubicBezTo>
                    <a:pt x="4808044" y="0"/>
                    <a:pt x="4826000" y="17956"/>
                    <a:pt x="4826000" y="40105"/>
                  </a:cubicBezTo>
                  <a:lnTo>
                    <a:pt x="4826000" y="1864895"/>
                  </a:lnTo>
                  <a:cubicBezTo>
                    <a:pt x="4826000" y="1887044"/>
                    <a:pt x="4808044" y="1905000"/>
                    <a:pt x="4785895" y="1905000"/>
                  </a:cubicBezTo>
                  <a:lnTo>
                    <a:pt x="40105" y="1905000"/>
                  </a:lnTo>
                  <a:cubicBezTo>
                    <a:pt x="17956" y="1905000"/>
                    <a:pt x="0" y="1887044"/>
                    <a:pt x="0" y="1864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826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pc-cotizacion-ms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525000" y="5086350"/>
            <a:ext cx="3619500" cy="31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2025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Builder + proformas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25000" y="5495925"/>
            <a:ext cx="361950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Laura Vargas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3144500" y="4143375"/>
            <a:ext cx="714375" cy="0"/>
          </a:xfrm>
          <a:prstGeom prst="line">
            <a:avLst/>
          </a:prstGeom>
          <a:ln w="38100" cap="rnd">
            <a:solidFill>
              <a:srgbClr val="31E6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2" name="Group 22"/>
          <p:cNvGrpSpPr/>
          <p:nvPr/>
        </p:nvGrpSpPr>
        <p:grpSpPr>
          <a:xfrm>
            <a:off x="13858875" y="3429000"/>
            <a:ext cx="3619500" cy="1428750"/>
            <a:chOff x="0" y="0"/>
            <a:chExt cx="4826000" cy="1905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26000" cy="1905000"/>
            </a:xfrm>
            <a:custGeom>
              <a:avLst/>
              <a:gdLst/>
              <a:ahLst/>
              <a:cxnLst/>
              <a:rect l="l" t="t" r="r" b="b"/>
              <a:pathLst>
                <a:path w="4826000" h="1905000">
                  <a:moveTo>
                    <a:pt x="40105" y="0"/>
                  </a:moveTo>
                  <a:lnTo>
                    <a:pt x="4785895" y="0"/>
                  </a:lnTo>
                  <a:cubicBezTo>
                    <a:pt x="4808044" y="0"/>
                    <a:pt x="4826000" y="17956"/>
                    <a:pt x="4826000" y="40105"/>
                  </a:cubicBezTo>
                  <a:lnTo>
                    <a:pt x="4826000" y="1864895"/>
                  </a:lnTo>
                  <a:cubicBezTo>
                    <a:pt x="4826000" y="1887044"/>
                    <a:pt x="4808044" y="1905000"/>
                    <a:pt x="4785895" y="1905000"/>
                  </a:cubicBezTo>
                  <a:lnTo>
                    <a:pt x="40105" y="1905000"/>
                  </a:lnTo>
                  <a:cubicBezTo>
                    <a:pt x="17956" y="1905000"/>
                    <a:pt x="0" y="1887044"/>
                    <a:pt x="0" y="1864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826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pc-pago-ms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858875" y="5086350"/>
            <a:ext cx="3619500" cy="31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6"/>
              </a:lnSpc>
            </a:pPr>
            <a:r>
              <a:rPr lang="en-US" sz="2025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Pago + webhook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58875" y="5495925"/>
            <a:ext cx="361950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Laura Vargas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476500" y="7143750"/>
            <a:ext cx="13335000" cy="1047750"/>
            <a:chOff x="0" y="0"/>
            <a:chExt cx="17780000" cy="1397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780000" cy="1397000"/>
            </a:xfrm>
            <a:custGeom>
              <a:avLst/>
              <a:gdLst/>
              <a:ahLst/>
              <a:cxnLst/>
              <a:rect l="l" t="t" r="r" b="b"/>
              <a:pathLst>
                <a:path w="17780000" h="1397000">
                  <a:moveTo>
                    <a:pt x="10886" y="0"/>
                  </a:moveTo>
                  <a:lnTo>
                    <a:pt x="17769114" y="0"/>
                  </a:lnTo>
                  <a:cubicBezTo>
                    <a:pt x="17775126" y="0"/>
                    <a:pt x="17780000" y="4874"/>
                    <a:pt x="17780000" y="10886"/>
                  </a:cubicBezTo>
                  <a:lnTo>
                    <a:pt x="17780000" y="1386114"/>
                  </a:lnTo>
                  <a:cubicBezTo>
                    <a:pt x="17780000" y="1392126"/>
                    <a:pt x="17775126" y="1397000"/>
                    <a:pt x="17769114" y="1397000"/>
                  </a:cubicBezTo>
                  <a:lnTo>
                    <a:pt x="10886" y="1397000"/>
                  </a:lnTo>
                  <a:cubicBezTo>
                    <a:pt x="4874" y="1397000"/>
                    <a:pt x="0" y="1392126"/>
                    <a:pt x="0" y="1386114"/>
                  </a:cubicBezTo>
                  <a:lnTo>
                    <a:pt x="0" y="10886"/>
                  </a:lnTo>
                  <a:cubicBezTo>
                    <a:pt x="0" y="4874"/>
                    <a:pt x="4874" y="0"/>
                    <a:pt x="10886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7780000" cy="141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CONFIG SERVER   ·   EUREKA   ·   API GATEWAY   ·   PROMETHEUS   ·   GRAFANA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6819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04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704850"/>
            <a:ext cx="5715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BACKBONE CLOUD-NATIVE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257300"/>
            <a:ext cx="6572250" cy="1649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sz="57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Alta disponibilidad</a:t>
            </a:r>
          </a:p>
          <a:p>
            <a:pPr algn="l">
              <a:lnSpc>
                <a:spcPts val="5928"/>
              </a:lnSpc>
            </a:pPr>
            <a:r>
              <a:rPr lang="en-US" sz="57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y escalabilidad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524750" y="1428750"/>
            <a:ext cx="9620250" cy="1066800"/>
            <a:chOff x="0" y="0"/>
            <a:chExt cx="12827000" cy="1422400"/>
          </a:xfrm>
        </p:grpSpPr>
        <p:grpSp>
          <p:nvGrpSpPr>
            <p:cNvPr id="5" name="Group 5"/>
            <p:cNvGrpSpPr/>
            <p:nvPr/>
          </p:nvGrpSpPr>
          <p:grpSpPr>
            <a:xfrm>
              <a:off x="508000" y="0"/>
              <a:ext cx="12319000" cy="1422400"/>
              <a:chOff x="0" y="0"/>
              <a:chExt cx="12319000" cy="1422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2319000" cy="1422400"/>
              </a:xfrm>
              <a:custGeom>
                <a:avLst/>
                <a:gdLst/>
                <a:ahLst/>
                <a:cxnLst/>
                <a:rect l="l" t="t" r="r" b="b"/>
                <a:pathLst>
                  <a:path w="12319000" h="14224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0B1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2319000" cy="146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508000"/>
              <a:ext cx="228600" cy="228600"/>
              <a:chOff x="0" y="0"/>
              <a:chExt cx="228600" cy="228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7D9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016000" y="381000"/>
              <a:ext cx="4191000" cy="377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3"/>
                </a:lnSpc>
              </a:pPr>
              <a:r>
                <a:rPr lang="en-US" sz="1875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CONFIG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61000" y="371475"/>
              <a:ext cx="6604000" cy="449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Perfiles DEV / PROD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24750" y="2838450"/>
            <a:ext cx="9620250" cy="1066800"/>
            <a:chOff x="0" y="0"/>
            <a:chExt cx="12827000" cy="1422400"/>
          </a:xfrm>
        </p:grpSpPr>
        <p:grpSp>
          <p:nvGrpSpPr>
            <p:cNvPr id="14" name="Group 14"/>
            <p:cNvGrpSpPr/>
            <p:nvPr/>
          </p:nvGrpSpPr>
          <p:grpSpPr>
            <a:xfrm>
              <a:off x="508000" y="0"/>
              <a:ext cx="12319000" cy="1422400"/>
              <a:chOff x="0" y="0"/>
              <a:chExt cx="12319000" cy="14224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2319000" cy="1422400"/>
              </a:xfrm>
              <a:custGeom>
                <a:avLst/>
                <a:gdLst/>
                <a:ahLst/>
                <a:cxnLst/>
                <a:rect l="l" t="t" r="r" b="b"/>
                <a:pathLst>
                  <a:path w="12319000" h="14224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0B1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2319000" cy="146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508000"/>
              <a:ext cx="228600" cy="228600"/>
              <a:chOff x="0" y="0"/>
              <a:chExt cx="228600" cy="228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7D9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016000" y="381000"/>
              <a:ext cx="4191000" cy="377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3"/>
                </a:lnSpc>
              </a:pPr>
              <a:r>
                <a:rPr lang="en-US" sz="1875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EUREKA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61000" y="371475"/>
              <a:ext cx="6604000" cy="449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Discovery dinámico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24750" y="4248150"/>
            <a:ext cx="9620250" cy="1066800"/>
            <a:chOff x="0" y="0"/>
            <a:chExt cx="12827000" cy="1422400"/>
          </a:xfrm>
        </p:grpSpPr>
        <p:grpSp>
          <p:nvGrpSpPr>
            <p:cNvPr id="23" name="Group 23"/>
            <p:cNvGrpSpPr/>
            <p:nvPr/>
          </p:nvGrpSpPr>
          <p:grpSpPr>
            <a:xfrm>
              <a:off x="508000" y="0"/>
              <a:ext cx="12319000" cy="1422400"/>
              <a:chOff x="0" y="0"/>
              <a:chExt cx="12319000" cy="1422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2319000" cy="1422400"/>
              </a:xfrm>
              <a:custGeom>
                <a:avLst/>
                <a:gdLst/>
                <a:ahLst/>
                <a:cxnLst/>
                <a:rect l="l" t="t" r="r" b="b"/>
                <a:pathLst>
                  <a:path w="12319000" h="14224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1024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2319000" cy="146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508000"/>
              <a:ext cx="228600" cy="228600"/>
              <a:chOff x="0" y="0"/>
              <a:chExt cx="228600" cy="228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31E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016000" y="381000"/>
              <a:ext cx="4191000" cy="377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3"/>
                </a:lnSpc>
              </a:pPr>
              <a:r>
                <a:rPr lang="en-US" sz="1875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GATEWAY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61000" y="371475"/>
              <a:ext cx="6604000" cy="449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Round-Robin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24750" y="5657850"/>
            <a:ext cx="9620250" cy="1066800"/>
            <a:chOff x="0" y="0"/>
            <a:chExt cx="12827000" cy="1422400"/>
          </a:xfrm>
        </p:grpSpPr>
        <p:grpSp>
          <p:nvGrpSpPr>
            <p:cNvPr id="32" name="Group 32"/>
            <p:cNvGrpSpPr/>
            <p:nvPr/>
          </p:nvGrpSpPr>
          <p:grpSpPr>
            <a:xfrm>
              <a:off x="508000" y="0"/>
              <a:ext cx="12319000" cy="1422400"/>
              <a:chOff x="0" y="0"/>
              <a:chExt cx="12319000" cy="14224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2319000" cy="1422400"/>
              </a:xfrm>
              <a:custGeom>
                <a:avLst/>
                <a:gdLst/>
                <a:ahLst/>
                <a:cxnLst/>
                <a:rect l="l" t="t" r="r" b="b"/>
                <a:pathLst>
                  <a:path w="12319000" h="14224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0B1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2319000" cy="146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508000"/>
              <a:ext cx="228600" cy="228600"/>
              <a:chOff x="0" y="0"/>
              <a:chExt cx="228600" cy="228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7D9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016000" y="381000"/>
              <a:ext cx="4191000" cy="377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3"/>
                </a:lnSpc>
              </a:pPr>
              <a:r>
                <a:rPr lang="en-US" sz="1875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POSTGRES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61000" y="371475"/>
              <a:ext cx="6604000" cy="449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DB aisladas + Flyway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24750" y="7067550"/>
            <a:ext cx="9620250" cy="1066800"/>
            <a:chOff x="0" y="0"/>
            <a:chExt cx="12827000" cy="1422400"/>
          </a:xfrm>
        </p:grpSpPr>
        <p:grpSp>
          <p:nvGrpSpPr>
            <p:cNvPr id="41" name="Group 41"/>
            <p:cNvGrpSpPr/>
            <p:nvPr/>
          </p:nvGrpSpPr>
          <p:grpSpPr>
            <a:xfrm>
              <a:off x="508000" y="0"/>
              <a:ext cx="12319000" cy="1422400"/>
              <a:chOff x="0" y="0"/>
              <a:chExt cx="12319000" cy="14224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2319000" cy="1422400"/>
              </a:xfrm>
              <a:custGeom>
                <a:avLst/>
                <a:gdLst/>
                <a:ahLst/>
                <a:cxnLst/>
                <a:rect l="l" t="t" r="r" b="b"/>
                <a:pathLst>
                  <a:path w="12319000" h="14224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1422400"/>
                    </a:lnTo>
                    <a:lnTo>
                      <a:pt x="0" y="1422400"/>
                    </a:lnTo>
                    <a:close/>
                  </a:path>
                </a:pathLst>
              </a:custGeom>
              <a:solidFill>
                <a:srgbClr val="0B1B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2319000" cy="1460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0" y="508000"/>
              <a:ext cx="228600" cy="228600"/>
              <a:chOff x="0" y="0"/>
              <a:chExt cx="228600" cy="228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7D9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016000" y="381000"/>
              <a:ext cx="4191000" cy="377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43"/>
                </a:lnSpc>
              </a:pPr>
              <a:r>
                <a:rPr lang="en-US" sz="1875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OBSERVABILITY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61000" y="371475"/>
              <a:ext cx="6604000" cy="449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62"/>
                </a:lnSpc>
              </a:pPr>
              <a:r>
                <a:rPr lang="en-US" sz="21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Prometheus + Grafana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05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57225"/>
            <a:ext cx="5715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DOS FLUJOS, UNA VENTA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23950"/>
            <a:ext cx="14287500" cy="767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49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Del ensamblaje asistido al checkout legal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476500"/>
            <a:ext cx="6191250" cy="28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 ENSAMBLAJE Y COTIZACIÓN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4400" y="3143250"/>
            <a:ext cx="4667250" cy="1238250"/>
            <a:chOff x="0" y="0"/>
            <a:chExt cx="6223000" cy="1651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0" cy="1651000"/>
            </a:xfrm>
            <a:custGeom>
              <a:avLst/>
              <a:gdLst/>
              <a:ahLst/>
              <a:cxnLst/>
              <a:rect l="l" t="t" r="r" b="b"/>
              <a:pathLst>
                <a:path w="6223000" h="1651000">
                  <a:moveTo>
                    <a:pt x="31102" y="0"/>
                  </a:moveTo>
                  <a:lnTo>
                    <a:pt x="6191898" y="0"/>
                  </a:lnTo>
                  <a:cubicBezTo>
                    <a:pt x="6200147" y="0"/>
                    <a:pt x="6208058" y="3277"/>
                    <a:pt x="6213890" y="9110"/>
                  </a:cubicBezTo>
                  <a:cubicBezTo>
                    <a:pt x="6219723" y="14942"/>
                    <a:pt x="6223000" y="22853"/>
                    <a:pt x="6223000" y="31102"/>
                  </a:cubicBezTo>
                  <a:lnTo>
                    <a:pt x="6223000" y="1619898"/>
                  </a:lnTo>
                  <a:cubicBezTo>
                    <a:pt x="6223000" y="1628147"/>
                    <a:pt x="6219723" y="1636058"/>
                    <a:pt x="6213890" y="1641890"/>
                  </a:cubicBezTo>
                  <a:cubicBezTo>
                    <a:pt x="6208058" y="1647723"/>
                    <a:pt x="6200147" y="1651000"/>
                    <a:pt x="6191898" y="1651000"/>
                  </a:cubicBezTo>
                  <a:lnTo>
                    <a:pt x="31102" y="1651000"/>
                  </a:lnTo>
                  <a:cubicBezTo>
                    <a:pt x="22853" y="1651000"/>
                    <a:pt x="14942" y="1647723"/>
                    <a:pt x="9110" y="1641890"/>
                  </a:cubicBezTo>
                  <a:cubicBezTo>
                    <a:pt x="3277" y="1636058"/>
                    <a:pt x="0" y="1628147"/>
                    <a:pt x="0" y="1619898"/>
                  </a:cubicBezTo>
                  <a:lnTo>
                    <a:pt x="0" y="31102"/>
                  </a:lnTo>
                  <a:cubicBezTo>
                    <a:pt x="0" y="22853"/>
                    <a:pt x="3277" y="14942"/>
                    <a:pt x="9110" y="9110"/>
                  </a:cubicBezTo>
                  <a:cubicBezTo>
                    <a:pt x="14942" y="3277"/>
                    <a:pt x="22853" y="0"/>
                    <a:pt x="31102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6223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Seleccionar componentes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5676900" y="3762375"/>
            <a:ext cx="714375" cy="0"/>
          </a:xfrm>
          <a:prstGeom prst="line">
            <a:avLst/>
          </a:prstGeom>
          <a:ln w="47625" cap="rnd">
            <a:solidFill>
              <a:srgbClr val="27D9F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6534150" y="3143250"/>
            <a:ext cx="4667250" cy="1238250"/>
            <a:chOff x="0" y="0"/>
            <a:chExt cx="6223000" cy="165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23000" cy="1651000"/>
            </a:xfrm>
            <a:custGeom>
              <a:avLst/>
              <a:gdLst/>
              <a:ahLst/>
              <a:cxnLst/>
              <a:rect l="l" t="t" r="r" b="b"/>
              <a:pathLst>
                <a:path w="6223000" h="1651000">
                  <a:moveTo>
                    <a:pt x="31102" y="0"/>
                  </a:moveTo>
                  <a:lnTo>
                    <a:pt x="6191898" y="0"/>
                  </a:lnTo>
                  <a:cubicBezTo>
                    <a:pt x="6200147" y="0"/>
                    <a:pt x="6208058" y="3277"/>
                    <a:pt x="6213890" y="9110"/>
                  </a:cubicBezTo>
                  <a:cubicBezTo>
                    <a:pt x="6219723" y="14942"/>
                    <a:pt x="6223000" y="22853"/>
                    <a:pt x="6223000" y="31102"/>
                  </a:cubicBezTo>
                  <a:lnTo>
                    <a:pt x="6223000" y="1619898"/>
                  </a:lnTo>
                  <a:cubicBezTo>
                    <a:pt x="6223000" y="1628147"/>
                    <a:pt x="6219723" y="1636058"/>
                    <a:pt x="6213890" y="1641890"/>
                  </a:cubicBezTo>
                  <a:cubicBezTo>
                    <a:pt x="6208058" y="1647723"/>
                    <a:pt x="6200147" y="1651000"/>
                    <a:pt x="6191898" y="1651000"/>
                  </a:cubicBezTo>
                  <a:lnTo>
                    <a:pt x="31102" y="1651000"/>
                  </a:lnTo>
                  <a:cubicBezTo>
                    <a:pt x="22853" y="1651000"/>
                    <a:pt x="14942" y="1647723"/>
                    <a:pt x="9110" y="1641890"/>
                  </a:cubicBezTo>
                  <a:cubicBezTo>
                    <a:pt x="3277" y="1636058"/>
                    <a:pt x="0" y="1628147"/>
                    <a:pt x="0" y="1619898"/>
                  </a:cubicBezTo>
                  <a:lnTo>
                    <a:pt x="0" y="31102"/>
                  </a:lnTo>
                  <a:cubicBezTo>
                    <a:pt x="0" y="22853"/>
                    <a:pt x="3277" y="14942"/>
                    <a:pt x="9110" y="9110"/>
                  </a:cubicBezTo>
                  <a:cubicBezTo>
                    <a:pt x="14942" y="3277"/>
                    <a:pt x="22853" y="0"/>
                    <a:pt x="31102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223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Validar compatibilidad + watts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11296650" y="3762375"/>
            <a:ext cx="714375" cy="0"/>
          </a:xfrm>
          <a:prstGeom prst="line">
            <a:avLst/>
          </a:prstGeom>
          <a:ln w="47625" cap="rnd">
            <a:solidFill>
              <a:srgbClr val="27D9F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2153900" y="3143250"/>
            <a:ext cx="4667250" cy="1238250"/>
            <a:chOff x="0" y="0"/>
            <a:chExt cx="6223000" cy="165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23000" cy="1651000"/>
            </a:xfrm>
            <a:custGeom>
              <a:avLst/>
              <a:gdLst/>
              <a:ahLst/>
              <a:cxnLst/>
              <a:rect l="l" t="t" r="r" b="b"/>
              <a:pathLst>
                <a:path w="6223000" h="1651000">
                  <a:moveTo>
                    <a:pt x="31102" y="0"/>
                  </a:moveTo>
                  <a:lnTo>
                    <a:pt x="6191898" y="0"/>
                  </a:lnTo>
                  <a:cubicBezTo>
                    <a:pt x="6200147" y="0"/>
                    <a:pt x="6208058" y="3277"/>
                    <a:pt x="6213890" y="9110"/>
                  </a:cubicBezTo>
                  <a:cubicBezTo>
                    <a:pt x="6219723" y="14942"/>
                    <a:pt x="6223000" y="22853"/>
                    <a:pt x="6223000" y="31102"/>
                  </a:cubicBezTo>
                  <a:lnTo>
                    <a:pt x="6223000" y="1619898"/>
                  </a:lnTo>
                  <a:cubicBezTo>
                    <a:pt x="6223000" y="1628147"/>
                    <a:pt x="6219723" y="1636058"/>
                    <a:pt x="6213890" y="1641890"/>
                  </a:cubicBezTo>
                  <a:cubicBezTo>
                    <a:pt x="6208058" y="1647723"/>
                    <a:pt x="6200147" y="1651000"/>
                    <a:pt x="6191898" y="1651000"/>
                  </a:cubicBezTo>
                  <a:lnTo>
                    <a:pt x="31102" y="1651000"/>
                  </a:lnTo>
                  <a:cubicBezTo>
                    <a:pt x="22853" y="1651000"/>
                    <a:pt x="14942" y="1647723"/>
                    <a:pt x="9110" y="1641890"/>
                  </a:cubicBezTo>
                  <a:cubicBezTo>
                    <a:pt x="3277" y="1636058"/>
                    <a:pt x="0" y="1628147"/>
                    <a:pt x="0" y="1619898"/>
                  </a:cubicBezTo>
                  <a:lnTo>
                    <a:pt x="0" y="31102"/>
                  </a:lnTo>
                  <a:cubicBezTo>
                    <a:pt x="0" y="22853"/>
                    <a:pt x="3277" y="14942"/>
                    <a:pt x="9110" y="9110"/>
                  </a:cubicBezTo>
                  <a:cubicBezTo>
                    <a:pt x="14942" y="3277"/>
                    <a:pt x="22853" y="0"/>
                    <a:pt x="31102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223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Emitir proforma · 7 días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400" y="5524500"/>
            <a:ext cx="6191250" cy="28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 ORDEN Y PAGO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14400" y="6191250"/>
            <a:ext cx="4667250" cy="1238250"/>
            <a:chOff x="0" y="0"/>
            <a:chExt cx="6223000" cy="1651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23000" cy="1651000"/>
            </a:xfrm>
            <a:custGeom>
              <a:avLst/>
              <a:gdLst/>
              <a:ahLst/>
              <a:cxnLst/>
              <a:rect l="l" t="t" r="r" b="b"/>
              <a:pathLst>
                <a:path w="6223000" h="1651000">
                  <a:moveTo>
                    <a:pt x="31102" y="0"/>
                  </a:moveTo>
                  <a:lnTo>
                    <a:pt x="6191898" y="0"/>
                  </a:lnTo>
                  <a:cubicBezTo>
                    <a:pt x="6200147" y="0"/>
                    <a:pt x="6208058" y="3277"/>
                    <a:pt x="6213890" y="9110"/>
                  </a:cubicBezTo>
                  <a:cubicBezTo>
                    <a:pt x="6219723" y="14942"/>
                    <a:pt x="6223000" y="22853"/>
                    <a:pt x="6223000" y="31102"/>
                  </a:cubicBezTo>
                  <a:lnTo>
                    <a:pt x="6223000" y="1619898"/>
                  </a:lnTo>
                  <a:cubicBezTo>
                    <a:pt x="6223000" y="1628147"/>
                    <a:pt x="6219723" y="1636058"/>
                    <a:pt x="6213890" y="1641890"/>
                  </a:cubicBezTo>
                  <a:cubicBezTo>
                    <a:pt x="6208058" y="1647723"/>
                    <a:pt x="6200147" y="1651000"/>
                    <a:pt x="6191898" y="1651000"/>
                  </a:cubicBezTo>
                  <a:lnTo>
                    <a:pt x="31102" y="1651000"/>
                  </a:lnTo>
                  <a:cubicBezTo>
                    <a:pt x="22853" y="1651000"/>
                    <a:pt x="14942" y="1647723"/>
                    <a:pt x="9110" y="1641890"/>
                  </a:cubicBezTo>
                  <a:cubicBezTo>
                    <a:pt x="3277" y="1636058"/>
                    <a:pt x="0" y="1628147"/>
                    <a:pt x="0" y="1619898"/>
                  </a:cubicBezTo>
                  <a:lnTo>
                    <a:pt x="0" y="31102"/>
                  </a:lnTo>
                  <a:cubicBezTo>
                    <a:pt x="0" y="22853"/>
                    <a:pt x="3277" y="14942"/>
                    <a:pt x="9110" y="9110"/>
                  </a:cubicBezTo>
                  <a:cubicBezTo>
                    <a:pt x="14942" y="3277"/>
                    <a:pt x="22853" y="0"/>
                    <a:pt x="3110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6223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Reservar stock + IGV 18%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5676900" y="6810375"/>
            <a:ext cx="714375" cy="0"/>
          </a:xfrm>
          <a:prstGeom prst="line">
            <a:avLst/>
          </a:prstGeom>
          <a:ln w="47625" cap="rnd">
            <a:solidFill>
              <a:srgbClr val="31E6A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6534150" y="6191250"/>
            <a:ext cx="4667250" cy="1238250"/>
            <a:chOff x="0" y="0"/>
            <a:chExt cx="6223000" cy="1651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223000" cy="1651000"/>
            </a:xfrm>
            <a:custGeom>
              <a:avLst/>
              <a:gdLst/>
              <a:ahLst/>
              <a:cxnLst/>
              <a:rect l="l" t="t" r="r" b="b"/>
              <a:pathLst>
                <a:path w="6223000" h="1651000">
                  <a:moveTo>
                    <a:pt x="31102" y="0"/>
                  </a:moveTo>
                  <a:lnTo>
                    <a:pt x="6191898" y="0"/>
                  </a:lnTo>
                  <a:cubicBezTo>
                    <a:pt x="6200147" y="0"/>
                    <a:pt x="6208058" y="3277"/>
                    <a:pt x="6213890" y="9110"/>
                  </a:cubicBezTo>
                  <a:cubicBezTo>
                    <a:pt x="6219723" y="14942"/>
                    <a:pt x="6223000" y="22853"/>
                    <a:pt x="6223000" y="31102"/>
                  </a:cubicBezTo>
                  <a:lnTo>
                    <a:pt x="6223000" y="1619898"/>
                  </a:lnTo>
                  <a:cubicBezTo>
                    <a:pt x="6223000" y="1628147"/>
                    <a:pt x="6219723" y="1636058"/>
                    <a:pt x="6213890" y="1641890"/>
                  </a:cubicBezTo>
                  <a:cubicBezTo>
                    <a:pt x="6208058" y="1647723"/>
                    <a:pt x="6200147" y="1651000"/>
                    <a:pt x="6191898" y="1651000"/>
                  </a:cubicBezTo>
                  <a:lnTo>
                    <a:pt x="31102" y="1651000"/>
                  </a:lnTo>
                  <a:cubicBezTo>
                    <a:pt x="22853" y="1651000"/>
                    <a:pt x="14942" y="1647723"/>
                    <a:pt x="9110" y="1641890"/>
                  </a:cubicBezTo>
                  <a:cubicBezTo>
                    <a:pt x="3277" y="1636058"/>
                    <a:pt x="0" y="1628147"/>
                    <a:pt x="0" y="1619898"/>
                  </a:cubicBezTo>
                  <a:lnTo>
                    <a:pt x="0" y="31102"/>
                  </a:lnTo>
                  <a:cubicBezTo>
                    <a:pt x="0" y="22853"/>
                    <a:pt x="3277" y="14942"/>
                    <a:pt x="9110" y="9110"/>
                  </a:cubicBezTo>
                  <a:cubicBezTo>
                    <a:pt x="14942" y="3277"/>
                    <a:pt x="22853" y="0"/>
                    <a:pt x="3110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6223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Crear preferencia de pago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1296650" y="6810375"/>
            <a:ext cx="714375" cy="0"/>
          </a:xfrm>
          <a:prstGeom prst="line">
            <a:avLst/>
          </a:prstGeom>
          <a:ln w="47625" cap="rnd">
            <a:solidFill>
              <a:srgbClr val="31E6A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2153900" y="6191250"/>
            <a:ext cx="4667250" cy="1238250"/>
            <a:chOff x="0" y="0"/>
            <a:chExt cx="6223000" cy="1651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23000" cy="1651000"/>
            </a:xfrm>
            <a:custGeom>
              <a:avLst/>
              <a:gdLst/>
              <a:ahLst/>
              <a:cxnLst/>
              <a:rect l="l" t="t" r="r" b="b"/>
              <a:pathLst>
                <a:path w="6223000" h="1651000">
                  <a:moveTo>
                    <a:pt x="31102" y="0"/>
                  </a:moveTo>
                  <a:lnTo>
                    <a:pt x="6191898" y="0"/>
                  </a:lnTo>
                  <a:cubicBezTo>
                    <a:pt x="6200147" y="0"/>
                    <a:pt x="6208058" y="3277"/>
                    <a:pt x="6213890" y="9110"/>
                  </a:cubicBezTo>
                  <a:cubicBezTo>
                    <a:pt x="6219723" y="14942"/>
                    <a:pt x="6223000" y="22853"/>
                    <a:pt x="6223000" y="31102"/>
                  </a:cubicBezTo>
                  <a:lnTo>
                    <a:pt x="6223000" y="1619898"/>
                  </a:lnTo>
                  <a:cubicBezTo>
                    <a:pt x="6223000" y="1628147"/>
                    <a:pt x="6219723" y="1636058"/>
                    <a:pt x="6213890" y="1641890"/>
                  </a:cubicBezTo>
                  <a:cubicBezTo>
                    <a:pt x="6208058" y="1647723"/>
                    <a:pt x="6200147" y="1651000"/>
                    <a:pt x="6191898" y="1651000"/>
                  </a:cubicBezTo>
                  <a:lnTo>
                    <a:pt x="31102" y="1651000"/>
                  </a:lnTo>
                  <a:cubicBezTo>
                    <a:pt x="22853" y="1651000"/>
                    <a:pt x="14942" y="1647723"/>
                    <a:pt x="9110" y="1641890"/>
                  </a:cubicBezTo>
                  <a:cubicBezTo>
                    <a:pt x="3277" y="1636058"/>
                    <a:pt x="0" y="1628147"/>
                    <a:pt x="0" y="1619898"/>
                  </a:cubicBezTo>
                  <a:lnTo>
                    <a:pt x="0" y="31102"/>
                  </a:lnTo>
                  <a:cubicBezTo>
                    <a:pt x="0" y="22853"/>
                    <a:pt x="3277" y="14942"/>
                    <a:pt x="9110" y="9110"/>
                  </a:cubicBezTo>
                  <a:cubicBezTo>
                    <a:pt x="14942" y="3277"/>
                    <a:pt x="22853" y="0"/>
                    <a:pt x="3110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6223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Webhook confirma la orden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6819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06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6275"/>
            <a:ext cx="6477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BLOQUE 1  /  ELICEO PARILLO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219200"/>
            <a:ext cx="7620000" cy="1497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Datos aislados.</a:t>
            </a:r>
          </a:p>
          <a:p>
            <a:pPr algn="l">
              <a:lnSpc>
                <a:spcPts val="5460"/>
              </a:lnSpc>
            </a:pPr>
            <a:r>
              <a:rPr lang="en-US" sz="52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Transacciones íntegras.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3448050"/>
            <a:ext cx="6667500" cy="35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A9BFD0"/>
                </a:solidFill>
                <a:latin typeface="Open Sans"/>
                <a:ea typeface="Open Sans"/>
                <a:cs typeface="Open Sans"/>
                <a:sym typeface="Open Sans"/>
              </a:rPr>
              <a:t>Alta concurrencia sin bloquear la facturación.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334500" y="1428750"/>
            <a:ext cx="6858000" cy="1428750"/>
            <a:chOff x="0" y="0"/>
            <a:chExt cx="9144000" cy="190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0" cy="1905000"/>
            </a:xfrm>
            <a:custGeom>
              <a:avLst/>
              <a:gdLst/>
              <a:ahLst/>
              <a:cxnLst/>
              <a:rect l="l" t="t" r="r" b="b"/>
              <a:pathLst>
                <a:path w="9144000" h="1905000">
                  <a:moveTo>
                    <a:pt x="21167" y="0"/>
                  </a:moveTo>
                  <a:lnTo>
                    <a:pt x="9122833" y="0"/>
                  </a:lnTo>
                  <a:cubicBezTo>
                    <a:pt x="9134523" y="0"/>
                    <a:pt x="9144000" y="9477"/>
                    <a:pt x="9144000" y="21167"/>
                  </a:cubicBezTo>
                  <a:lnTo>
                    <a:pt x="9144000" y="1883833"/>
                  </a:lnTo>
                  <a:cubicBezTo>
                    <a:pt x="9144000" y="1895523"/>
                    <a:pt x="9134523" y="1905000"/>
                    <a:pt x="9122833" y="1905000"/>
                  </a:cubicBezTo>
                  <a:lnTo>
                    <a:pt x="21167" y="1905000"/>
                  </a:lnTo>
                  <a:cubicBezTo>
                    <a:pt x="9477" y="1905000"/>
                    <a:pt x="0" y="1895523"/>
                    <a:pt x="0" y="18838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9144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pc-catalogo-ms  →  eniaclabs_catalogo_db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34500" y="3714750"/>
            <a:ext cx="6858000" cy="1428750"/>
            <a:chOff x="0" y="0"/>
            <a:chExt cx="9144000" cy="190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905000"/>
            </a:xfrm>
            <a:custGeom>
              <a:avLst/>
              <a:gdLst/>
              <a:ahLst/>
              <a:cxnLst/>
              <a:rect l="l" t="t" r="r" b="b"/>
              <a:pathLst>
                <a:path w="9144000" h="1905000">
                  <a:moveTo>
                    <a:pt x="21167" y="0"/>
                  </a:moveTo>
                  <a:lnTo>
                    <a:pt x="9122833" y="0"/>
                  </a:lnTo>
                  <a:cubicBezTo>
                    <a:pt x="9134523" y="0"/>
                    <a:pt x="9144000" y="9477"/>
                    <a:pt x="9144000" y="21167"/>
                  </a:cubicBezTo>
                  <a:lnTo>
                    <a:pt x="9144000" y="1883833"/>
                  </a:lnTo>
                  <a:cubicBezTo>
                    <a:pt x="9144000" y="1895523"/>
                    <a:pt x="9134523" y="1905000"/>
                    <a:pt x="9122833" y="1905000"/>
                  </a:cubicBezTo>
                  <a:lnTo>
                    <a:pt x="21167" y="1905000"/>
                  </a:lnTo>
                  <a:cubicBezTo>
                    <a:pt x="9477" y="1905000"/>
                    <a:pt x="0" y="1895523"/>
                    <a:pt x="0" y="18838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9144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pc-orden-ms  →  eniaclabs_orden_db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06000" y="3019425"/>
            <a:ext cx="57150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SKU único  ·  precio &gt; 0  ·  stock en tiempo real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06000" y="5305425"/>
            <a:ext cx="57150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Cabecera–detalle  ·  correlativo  ·  cálculo fiscal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4500" y="6991350"/>
            <a:ext cx="6858000" cy="301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9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ÚNICO SERVICIO TRANSACCIONAL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668000" y="7620000"/>
            <a:ext cx="4191000" cy="47625"/>
            <a:chOff x="0" y="0"/>
            <a:chExt cx="5588000" cy="63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88000" cy="63500"/>
            </a:xfrm>
            <a:custGeom>
              <a:avLst/>
              <a:gdLst/>
              <a:ahLst/>
              <a:cxnLst/>
              <a:rect l="l" t="t" r="r" b="b"/>
              <a:pathLst>
                <a:path w="5588000" h="63500">
                  <a:moveTo>
                    <a:pt x="0" y="0"/>
                  </a:moveTo>
                  <a:lnTo>
                    <a:pt x="5588000" y="0"/>
                  </a:lnTo>
                  <a:lnTo>
                    <a:pt x="5588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588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07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11_docker_compose_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000" y="1400000"/>
            <a:ext cx="9200000" cy="5213333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7620000" y="0"/>
            <a:ext cx="2381250" cy="10287000"/>
            <a:chOff x="0" y="0"/>
            <a:chExt cx="3175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75000" cy="13716000"/>
            </a:xfrm>
            <a:custGeom>
              <a:avLst/>
              <a:gdLst/>
              <a:ahLst/>
              <a:cxnLst/>
              <a:rect l="l" t="t" r="r" b="b"/>
              <a:pathLst>
                <a:path w="3175000" h="13716000">
                  <a:moveTo>
                    <a:pt x="0" y="0"/>
                  </a:moveTo>
                  <a:lnTo>
                    <a:pt x="3175000" y="0"/>
                  </a:lnTo>
                  <a:lnTo>
                    <a:pt x="317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8FB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175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895350"/>
            <a:ext cx="62865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DESPLIEGUE REPRODUCIBLE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1457325"/>
            <a:ext cx="6667500" cy="1497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Docker + bases aisladas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4371975"/>
            <a:ext cx="6191250" cy="3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2175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01  Un contenedor por microservicio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5419725"/>
            <a:ext cx="6191250" cy="3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2175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02  PostgreSQL independiente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6467475"/>
            <a:ext cx="6191250" cy="33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2175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03  Flyway versiona cada cambio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7962900"/>
            <a:ext cx="6191250" cy="38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5" b="1">
                <a:solidFill>
                  <a:srgbClr val="31E6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Aislamiento real. Cero colisiones.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6819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08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8600000" y="6800000"/>
            <a:ext cx="9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896"/>
                </a:solidFill>
                <a:latin typeface="Arial"/>
              </a:defRPr>
            </a:pPr>
            <a:r>
              <a:t>CAPTURA REAL: 16 CONTENEDORES DOCKER SALUDABLES EN EXECUCIÓN</a:t>
            </a:r>
          </a:p>
          <a:p>
            <a:pPr>
              <a:defRPr sz="1000">
                <a:solidFill>
                  <a:srgbClr val="B4BED2"/>
                </a:solidFill>
                <a:latin typeface="Arial"/>
              </a:defRPr>
            </a:pPr>
            <a:r>
              <a:t>PostgreSQL x4  ·  Spring Boot x5  ·  Eureka  ·  Gateway  ·  Config  ·  Prometheus  ·  Grafana  ·  Loki  ·  Promtail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57225"/>
            <a:ext cx="5715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GOBIERNO DE ENTORNOS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62050"/>
            <a:ext cx="8572500" cy="146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51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Configuración dinámica</a:t>
            </a:r>
          </a:p>
          <a:p>
            <a:pPr algn="l">
              <a:lnSpc>
                <a:spcPts val="5304"/>
              </a:lnSpc>
            </a:pPr>
            <a:r>
              <a:rPr lang="en-US" sz="51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y Service Discovery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4476750"/>
            <a:ext cx="4000500" cy="1238250"/>
            <a:chOff x="0" y="0"/>
            <a:chExt cx="5334000" cy="165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34000" cy="1651000"/>
            </a:xfrm>
            <a:custGeom>
              <a:avLst/>
              <a:gdLst/>
              <a:ahLst/>
              <a:cxnLst/>
              <a:rect l="l" t="t" r="r" b="b"/>
              <a:pathLst>
                <a:path w="5334000" h="16510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1614714"/>
                  </a:lnTo>
                  <a:cubicBezTo>
                    <a:pt x="5334000" y="1634754"/>
                    <a:pt x="5317754" y="1651000"/>
                    <a:pt x="5297714" y="1651000"/>
                  </a:cubicBezTo>
                  <a:lnTo>
                    <a:pt x="36286" y="1651000"/>
                  </a:lnTo>
                  <a:cubicBezTo>
                    <a:pt x="16246" y="1651000"/>
                    <a:pt x="0" y="1634754"/>
                    <a:pt x="0" y="1614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334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CONFIG SERVER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DEV  /  PROD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43750" y="4476750"/>
            <a:ext cx="4000500" cy="1238250"/>
            <a:chOff x="0" y="0"/>
            <a:chExt cx="5334000" cy="165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34000" cy="1651000"/>
            </a:xfrm>
            <a:custGeom>
              <a:avLst/>
              <a:gdLst/>
              <a:ahLst/>
              <a:cxnLst/>
              <a:rect l="l" t="t" r="r" b="b"/>
              <a:pathLst>
                <a:path w="5334000" h="16510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1614714"/>
                  </a:lnTo>
                  <a:cubicBezTo>
                    <a:pt x="5334000" y="1634754"/>
                    <a:pt x="5317754" y="1651000"/>
                    <a:pt x="5297714" y="1651000"/>
                  </a:cubicBezTo>
                  <a:lnTo>
                    <a:pt x="36286" y="1651000"/>
                  </a:lnTo>
                  <a:cubicBezTo>
                    <a:pt x="16246" y="1651000"/>
                    <a:pt x="0" y="1634754"/>
                    <a:pt x="0" y="1614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334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EUREKA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HEARTBEATS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239750" y="4476750"/>
            <a:ext cx="4000500" cy="1238250"/>
            <a:chOff x="0" y="0"/>
            <a:chExt cx="5334000" cy="165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34000" cy="1651000"/>
            </a:xfrm>
            <a:custGeom>
              <a:avLst/>
              <a:gdLst/>
              <a:ahLst/>
              <a:cxnLst/>
              <a:rect l="l" t="t" r="r" b="b"/>
              <a:pathLst>
                <a:path w="5334000" h="16510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1614714"/>
                  </a:lnTo>
                  <a:cubicBezTo>
                    <a:pt x="5334000" y="1634754"/>
                    <a:pt x="5317754" y="1651000"/>
                    <a:pt x="5297714" y="1651000"/>
                  </a:cubicBezTo>
                  <a:lnTo>
                    <a:pt x="36286" y="1651000"/>
                  </a:lnTo>
                  <a:cubicBezTo>
                    <a:pt x="16246" y="1651000"/>
                    <a:pt x="0" y="1634754"/>
                    <a:pt x="0" y="1614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5334000" cy="167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API GATEWAY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ROUTING + FILTROS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5048250" y="5095875"/>
            <a:ext cx="2095500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1144250" y="5095875"/>
            <a:ext cx="2095500" cy="0"/>
          </a:xfrm>
          <a:prstGeom prst="line">
            <a:avLst/>
          </a:prstGeom>
          <a:ln w="47625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51560" y="5943600"/>
            <a:ext cx="4005072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A9BFD0"/>
                </a:solidFill>
                <a:latin typeface="Open Sans"/>
                <a:ea typeface="Open Sans"/>
                <a:cs typeface="Open Sans"/>
                <a:sym typeface="Open Sans"/>
              </a:rPr>
              <a:t>Mismo artefacto, perfiles dinámicos, sin recompilar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41464" y="5943600"/>
            <a:ext cx="4005072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A9BFD0"/>
                </a:solidFill>
                <a:latin typeface="Open Sans"/>
                <a:ea typeface="Open Sans"/>
                <a:cs typeface="Open Sans"/>
                <a:sym typeface="Open Sans"/>
              </a:rPr>
              <a:t>Latidos, balanceo y escalabilidad automática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40512" y="5943600"/>
            <a:ext cx="4005072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A9BFD0"/>
                </a:solidFill>
                <a:latin typeface="Open Sans"/>
                <a:ea typeface="Open Sans"/>
                <a:cs typeface="Open Sans"/>
                <a:sym typeface="Open Sans"/>
              </a:rPr>
              <a:t>Enrutamiento no bloqueante y filtros globales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09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22" name="Picture 21" descr="01_eurek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6766560"/>
            <a:ext cx="58521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57225"/>
            <a:ext cx="5715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CONTRATOS PREDECIBLES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14425"/>
            <a:ext cx="14287500" cy="73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APIs REST con validación y manejo de errores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2762250"/>
            <a:ext cx="7239000" cy="3619500"/>
            <a:chOff x="0" y="0"/>
            <a:chExt cx="9652000" cy="4826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652000" cy="4826000"/>
              <a:chOff x="0" y="0"/>
              <a:chExt cx="9652000" cy="4826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652000" cy="4826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4826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07142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9652000" cy="486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571500" y="488950"/>
              <a:ext cx="8255000" cy="445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100" b="1">
                  <a:solidFill>
                    <a:srgbClr val="31E6A1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GET  /api/productos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1500" y="1403350"/>
              <a:ext cx="8255000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200  OK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{ sku, socket, formato, watts, stock }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06000" y="2762250"/>
            <a:ext cx="7239000" cy="3619500"/>
            <a:chOff x="0" y="0"/>
            <a:chExt cx="9652000" cy="4826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652000" cy="4826000"/>
              <a:chOff x="0" y="0"/>
              <a:chExt cx="9652000" cy="4826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652000" cy="4826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4826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1024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9652000" cy="486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71500" y="488950"/>
              <a:ext cx="8255000" cy="445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100" b="1">
                  <a:solidFill>
                    <a:srgbClr val="27D9F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POST  /api/productos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1500" y="1403350"/>
              <a:ext cx="8255000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400  BAD REQUEST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{ code, field, message, timestamp }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57500" y="7658100"/>
            <a:ext cx="12573000" cy="3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5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Integridad de dominio + respuestas JSON normalizadas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6819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10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57225"/>
            <a:ext cx="6858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CRITERIO TRANSACCIONAL ÚNICO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62050"/>
            <a:ext cx="8572500" cy="146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51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Órdenes con integridad,</a:t>
            </a:r>
          </a:p>
          <a:p>
            <a:pPr algn="l">
              <a:lnSpc>
                <a:spcPts val="5304"/>
              </a:lnSpc>
            </a:pPr>
            <a:r>
              <a:rPr lang="en-US" sz="51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IGV y correlativo oficial</a:t>
            </a:r>
          </a:p>
        </p:txBody>
      </p:sp>
      <p:pic>
        <p:nvPicPr>
          <p:cNvPr id="22" name="Picture 21" descr="13_api_orden_cre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234440"/>
            <a:ext cx="8046720" cy="4553712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000250" y="5905500"/>
            <a:ext cx="4762500" cy="1333500"/>
            <a:chOff x="0" y="0"/>
            <a:chExt cx="6350000" cy="1778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1778000"/>
            </a:xfrm>
            <a:custGeom>
              <a:avLst/>
              <a:gdLst/>
              <a:ahLst/>
              <a:cxnLst/>
              <a:rect l="l" t="t" r="r" b="b"/>
              <a:pathLst>
                <a:path w="6350000" h="1778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1747520"/>
                  </a:lnTo>
                  <a:cubicBezTo>
                    <a:pt x="6350000" y="1764354"/>
                    <a:pt x="6336354" y="1778000"/>
                    <a:pt x="6319520" y="1778000"/>
                  </a:cubicBezTo>
                  <a:lnTo>
                    <a:pt x="30480" y="1778000"/>
                  </a:lnTo>
                  <a:cubicBezTo>
                    <a:pt x="22396" y="1778000"/>
                    <a:pt x="14643" y="1774789"/>
                    <a:pt x="8927" y="1769073"/>
                  </a:cubicBezTo>
                  <a:cubicBezTo>
                    <a:pt x="3211" y="1763357"/>
                    <a:pt x="0" y="1755604"/>
                    <a:pt x="0" y="1747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350000" cy="1797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ORDEN · CABECERA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810500" y="7429500"/>
            <a:ext cx="4762500" cy="1333500"/>
            <a:chOff x="0" y="0"/>
            <a:chExt cx="6350000" cy="1778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1778000"/>
            </a:xfrm>
            <a:custGeom>
              <a:avLst/>
              <a:gdLst/>
              <a:ahLst/>
              <a:cxnLst/>
              <a:rect l="l" t="t" r="r" b="b"/>
              <a:pathLst>
                <a:path w="6350000" h="1778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1747520"/>
                  </a:lnTo>
                  <a:cubicBezTo>
                    <a:pt x="6350000" y="1764354"/>
                    <a:pt x="6336354" y="1778000"/>
                    <a:pt x="6319520" y="1778000"/>
                  </a:cubicBezTo>
                  <a:lnTo>
                    <a:pt x="30480" y="1778000"/>
                  </a:lnTo>
                  <a:cubicBezTo>
                    <a:pt x="22396" y="1778000"/>
                    <a:pt x="14643" y="1774789"/>
                    <a:pt x="8927" y="1769073"/>
                  </a:cubicBezTo>
                  <a:cubicBezTo>
                    <a:pt x="3211" y="1763357"/>
                    <a:pt x="0" y="1755604"/>
                    <a:pt x="0" y="1747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350000" cy="1797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DETALLE · ÍTEMS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6762750" y="6572250"/>
            <a:ext cx="1047750" cy="1524000"/>
          </a:xfrm>
          <a:prstGeom prst="line">
            <a:avLst/>
          </a:prstGeom>
          <a:ln w="476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11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23" name="Picture 22" descr="12_psql_ordenes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6035040"/>
            <a:ext cx="80467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6275"/>
            <a:ext cx="62865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BLOQUE 2  /  LAURA VARGAS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209675"/>
            <a:ext cx="8572500" cy="158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55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Motor de cotización</a:t>
            </a:r>
          </a:p>
          <a:p>
            <a:pPr algn="l">
              <a:lnSpc>
                <a:spcPts val="5772"/>
              </a:lnSpc>
            </a:pPr>
            <a:r>
              <a:rPr lang="en-US" sz="55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y pasarela fintech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4857750"/>
            <a:ext cx="7810500" cy="1619250"/>
            <a:chOff x="0" y="0"/>
            <a:chExt cx="10414000" cy="2159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414000" cy="2159000"/>
              <a:chOff x="0" y="0"/>
              <a:chExt cx="10414000" cy="2159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414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159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0414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508000" y="425450"/>
              <a:ext cx="3048000" cy="621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3000" b="1">
                  <a:solidFill>
                    <a:srgbClr val="27D9F2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28 ms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10000" y="495300"/>
              <a:ext cx="5969000" cy="443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43D"/>
                  </a:solidFill>
                  <a:latin typeface="Open Sans"/>
                  <a:ea typeface="Open Sans"/>
                  <a:cs typeface="Open Sans"/>
                  <a:sym typeface="Open Sans"/>
                </a:rPr>
                <a:t>Compatibilidad física + watts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34500" y="4857750"/>
            <a:ext cx="7810500" cy="1619250"/>
            <a:chOff x="0" y="0"/>
            <a:chExt cx="10414000" cy="2159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0414000" cy="2159000"/>
              <a:chOff x="0" y="0"/>
              <a:chExt cx="10414000" cy="2159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414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159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0414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08000" y="425450"/>
              <a:ext cx="3048000" cy="621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3000" b="1">
                  <a:solidFill>
                    <a:srgbClr val="27D9F2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7 días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0000" y="495300"/>
              <a:ext cx="5969000" cy="443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43D"/>
                  </a:solidFill>
                  <a:latin typeface="Open Sans"/>
                  <a:ea typeface="Open Sans"/>
                  <a:cs typeface="Open Sans"/>
                  <a:sym typeface="Open Sans"/>
                </a:rPr>
                <a:t>Proformas vigentes y exportables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500" y="6953250"/>
            <a:ext cx="7810500" cy="1619250"/>
            <a:chOff x="0" y="0"/>
            <a:chExt cx="10414000" cy="2159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414000" cy="2159000"/>
              <a:chOff x="0" y="0"/>
              <a:chExt cx="10414000" cy="2159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414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159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0414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08000" y="425450"/>
              <a:ext cx="3048000" cy="621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3000" b="1">
                  <a:solidFill>
                    <a:srgbClr val="31E6A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WEBHOOK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10000" y="495300"/>
              <a:ext cx="5969000" cy="443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43D"/>
                  </a:solidFill>
                  <a:latin typeface="Open Sans"/>
                  <a:ea typeface="Open Sans"/>
                  <a:cs typeface="Open Sans"/>
                  <a:sym typeface="Open Sans"/>
                </a:rPr>
                <a:t>Pagos sincronizados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34500" y="6953250"/>
            <a:ext cx="7810500" cy="1619250"/>
            <a:chOff x="0" y="0"/>
            <a:chExt cx="10414000" cy="2159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0414000" cy="2159000"/>
              <a:chOff x="0" y="0"/>
              <a:chExt cx="10414000" cy="2159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0414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2159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0414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08000" y="425450"/>
              <a:ext cx="3048000" cy="621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3000" b="1">
                  <a:solidFill>
                    <a:srgbClr val="31E6A1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SECRETS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10000" y="495300"/>
              <a:ext cx="5969000" cy="443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43D"/>
                  </a:solidFill>
                  <a:latin typeface="Open Sans"/>
                  <a:ea typeface="Open Sans"/>
                  <a:cs typeface="Open Sans"/>
                  <a:sym typeface="Open Sans"/>
                </a:rPr>
                <a:t>Credenciales gobernadas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6819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12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57225"/>
            <a:ext cx="59055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DESPLIEGUE COMERCIAL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62050"/>
            <a:ext cx="10001250" cy="1465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sz="51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Contenedores saludables.</a:t>
            </a:r>
          </a:p>
          <a:p>
            <a:pPr algn="l">
              <a:lnSpc>
                <a:spcPts val="5304"/>
              </a:lnSpc>
            </a:pPr>
            <a:r>
              <a:rPr lang="en-US" sz="510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Discovery sincronizado.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28750" y="4667250"/>
            <a:ext cx="14763750" cy="1381125"/>
            <a:chOff x="0" y="0"/>
            <a:chExt cx="19685000" cy="18415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9685000" cy="1841500"/>
              <a:chOff x="0" y="0"/>
              <a:chExt cx="19685000" cy="18415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685000" cy="1841500"/>
              </a:xfrm>
              <a:custGeom>
                <a:avLst/>
                <a:gdLst/>
                <a:ahLst/>
                <a:cxnLst/>
                <a:rect l="l" t="t" r="r" b="b"/>
                <a:pathLst>
                  <a:path w="19685000" h="1841500">
                    <a:moveTo>
                      <a:pt x="0" y="0"/>
                    </a:moveTo>
                    <a:lnTo>
                      <a:pt x="19685000" y="0"/>
                    </a:lnTo>
                    <a:lnTo>
                      <a:pt x="19685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1024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9685000" cy="187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266700" y="673100"/>
              <a:ext cx="228600" cy="228600"/>
              <a:chOff x="0" y="0"/>
              <a:chExt cx="228600" cy="228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31E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889000" y="571500"/>
              <a:ext cx="7620000" cy="511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87"/>
                </a:lnSpc>
              </a:pPr>
              <a:r>
                <a:rPr lang="en-US" sz="255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pc-cotizacion-ms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970000" y="615950"/>
              <a:ext cx="4445000" cy="421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31"/>
                </a:lnSpc>
              </a:pPr>
              <a:r>
                <a:rPr lang="en-US" sz="2025">
                  <a:solidFill>
                    <a:srgbClr val="31E6A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UP · 01:42:18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28750" y="6762750"/>
            <a:ext cx="14763750" cy="1381125"/>
            <a:chOff x="0" y="0"/>
            <a:chExt cx="19685000" cy="18415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9685000" cy="1841500"/>
              <a:chOff x="0" y="0"/>
              <a:chExt cx="19685000" cy="1841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9685000" cy="1841500"/>
              </a:xfrm>
              <a:custGeom>
                <a:avLst/>
                <a:gdLst/>
                <a:ahLst/>
                <a:cxnLst/>
                <a:rect l="l" t="t" r="r" b="b"/>
                <a:pathLst>
                  <a:path w="19685000" h="1841500">
                    <a:moveTo>
                      <a:pt x="0" y="0"/>
                    </a:moveTo>
                    <a:lnTo>
                      <a:pt x="19685000" y="0"/>
                    </a:lnTo>
                    <a:lnTo>
                      <a:pt x="19685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10243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9685000" cy="187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66700" y="673100"/>
              <a:ext cx="228600" cy="228600"/>
              <a:chOff x="0" y="0"/>
              <a:chExt cx="228600" cy="228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31E6A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28600" cy="26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889000" y="571500"/>
              <a:ext cx="7620000" cy="511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87"/>
                </a:lnSpc>
              </a:pPr>
              <a:r>
                <a:rPr lang="en-US" sz="2550" b="1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pc-pago-ms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70000" y="615950"/>
              <a:ext cx="4445000" cy="421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31"/>
                </a:lnSpc>
              </a:pPr>
              <a:r>
                <a:rPr lang="en-US" sz="2025">
                  <a:solidFill>
                    <a:srgbClr val="31E6A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UP · 01:42:04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76500" y="8439150"/>
            <a:ext cx="133350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A9BFD0"/>
                </a:solidFill>
                <a:latin typeface="Open Sans"/>
                <a:ea typeface="Open Sans"/>
                <a:cs typeface="Open Sans"/>
                <a:sym typeface="Open Sans"/>
              </a:rPr>
              <a:t>PostgreSQL dedicado  ·  Eureka heartbeat  ·  red compartida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13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27" name="Picture 26" descr="10_swagger_cot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4297680"/>
            <a:ext cx="4754880" cy="2011680"/>
          </a:xfrm>
          <a:prstGeom prst="rect">
            <a:avLst/>
          </a:prstGeom>
        </p:spPr>
      </p:pic>
      <p:pic>
        <p:nvPicPr>
          <p:cNvPr id="28" name="Picture 27" descr="09_swagger_pa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6492240"/>
            <a:ext cx="47548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57225"/>
            <a:ext cx="5715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SEGURIDAD POR DISEÑO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71575"/>
            <a:ext cx="9525000" cy="1497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Secretos fuera del código.</a:t>
            </a:r>
          </a:p>
          <a:p>
            <a:pPr algn="l">
              <a:lnSpc>
                <a:spcPts val="5460"/>
              </a:lnSpc>
            </a:pPr>
            <a:r>
              <a:rPr lang="en-US" sz="52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Rutas bajo control.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24000" y="4667250"/>
            <a:ext cx="4286250" cy="1428750"/>
            <a:chOff x="0" y="0"/>
            <a:chExt cx="5715000" cy="190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00" cy="1905000"/>
            </a:xfrm>
            <a:custGeom>
              <a:avLst/>
              <a:gdLst/>
              <a:ahLst/>
              <a:cxnLst/>
              <a:rect l="l" t="t" r="r" b="b"/>
              <a:pathLst>
                <a:path w="5715000" h="1905000">
                  <a:moveTo>
                    <a:pt x="33867" y="0"/>
                  </a:moveTo>
                  <a:lnTo>
                    <a:pt x="5681133" y="0"/>
                  </a:lnTo>
                  <a:cubicBezTo>
                    <a:pt x="5699837" y="0"/>
                    <a:pt x="5715000" y="15163"/>
                    <a:pt x="5715000" y="33867"/>
                  </a:cubicBezTo>
                  <a:lnTo>
                    <a:pt x="5715000" y="1871133"/>
                  </a:lnTo>
                  <a:cubicBezTo>
                    <a:pt x="5715000" y="1889837"/>
                    <a:pt x="5699837" y="1905000"/>
                    <a:pt x="5681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715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ENV VARS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CREDENCIALES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000875" y="4667250"/>
            <a:ext cx="4286250" cy="1428750"/>
            <a:chOff x="0" y="0"/>
            <a:chExt cx="5715000" cy="190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00" cy="1905000"/>
            </a:xfrm>
            <a:custGeom>
              <a:avLst/>
              <a:gdLst/>
              <a:ahLst/>
              <a:cxnLst/>
              <a:rect l="l" t="t" r="r" b="b"/>
              <a:pathLst>
                <a:path w="5715000" h="1905000">
                  <a:moveTo>
                    <a:pt x="33867" y="0"/>
                  </a:moveTo>
                  <a:lnTo>
                    <a:pt x="5681133" y="0"/>
                  </a:lnTo>
                  <a:cubicBezTo>
                    <a:pt x="5699837" y="0"/>
                    <a:pt x="5715000" y="15163"/>
                    <a:pt x="5715000" y="33867"/>
                  </a:cubicBezTo>
                  <a:lnTo>
                    <a:pt x="5715000" y="1871133"/>
                  </a:lnTo>
                  <a:cubicBezTo>
                    <a:pt x="5715000" y="1889837"/>
                    <a:pt x="5699837" y="1905000"/>
                    <a:pt x="5681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715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API GATEWAY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CORS + FILTROS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77750" y="4667250"/>
            <a:ext cx="4286250" cy="1428750"/>
            <a:chOff x="0" y="0"/>
            <a:chExt cx="5715000" cy="190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00" cy="1905000"/>
            </a:xfrm>
            <a:custGeom>
              <a:avLst/>
              <a:gdLst/>
              <a:ahLst/>
              <a:cxnLst/>
              <a:rect l="l" t="t" r="r" b="b"/>
              <a:pathLst>
                <a:path w="5715000" h="1905000">
                  <a:moveTo>
                    <a:pt x="33867" y="0"/>
                  </a:moveTo>
                  <a:lnTo>
                    <a:pt x="5681133" y="0"/>
                  </a:lnTo>
                  <a:cubicBezTo>
                    <a:pt x="5699837" y="0"/>
                    <a:pt x="5715000" y="15163"/>
                    <a:pt x="5715000" y="33867"/>
                  </a:cubicBezTo>
                  <a:lnTo>
                    <a:pt x="5715000" y="1871133"/>
                  </a:lnTo>
                  <a:cubicBezTo>
                    <a:pt x="5715000" y="1889837"/>
                    <a:pt x="5699837" y="1905000"/>
                    <a:pt x="5681133" y="1905000"/>
                  </a:cubicBezTo>
                  <a:lnTo>
                    <a:pt x="33867" y="1905000"/>
                  </a:lnTo>
                  <a:cubicBezTo>
                    <a:pt x="15163" y="1905000"/>
                    <a:pt x="0" y="1889837"/>
                    <a:pt x="0" y="1871133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5715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COTIZACIÓN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PAGOS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5810250" y="5381625"/>
            <a:ext cx="1190625" cy="0"/>
          </a:xfrm>
          <a:prstGeom prst="line">
            <a:avLst/>
          </a:prstGeom>
          <a:ln w="47625" cap="rnd">
            <a:solidFill>
              <a:srgbClr val="1024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1287125" y="5381625"/>
            <a:ext cx="1190625" cy="0"/>
          </a:xfrm>
          <a:prstGeom prst="line">
            <a:avLst/>
          </a:prstGeom>
          <a:ln w="47625" cap="rnd">
            <a:solidFill>
              <a:srgbClr val="1024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2190750" y="6848475"/>
            <a:ext cx="12096750" cy="3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5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Cero exposición de secretos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90750" y="7439025"/>
            <a:ext cx="1285875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668198"/>
                </a:solidFill>
                <a:latin typeface="Open Sans"/>
                <a:ea typeface="Open Sans"/>
                <a:cs typeface="Open Sans"/>
                <a:sym typeface="Open Sans"/>
              </a:rPr>
              <a:t>Configuración centralizada · balanceo Round-Robin · gobierno transversal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6819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14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15_api_cot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188720"/>
            <a:ext cx="8412480" cy="4764024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8286750" y="714375"/>
            <a:ext cx="9334500" cy="8001000"/>
            <a:chOff x="0" y="0"/>
            <a:chExt cx="12446000" cy="1066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46000" cy="10668000"/>
            </a:xfrm>
            <a:custGeom>
              <a:avLst/>
              <a:gdLst/>
              <a:ahLst/>
              <a:cxnLst/>
              <a:rect l="l" t="t" r="r" b="b"/>
              <a:pathLst>
                <a:path w="12446000" h="10668000">
                  <a:moveTo>
                    <a:pt x="0" y="0"/>
                  </a:moveTo>
                  <a:lnTo>
                    <a:pt x="12446000" y="0"/>
                  </a:lnTo>
                  <a:lnTo>
                    <a:pt x="12446000" y="10668000"/>
                  </a:lnTo>
                  <a:lnTo>
                    <a:pt x="0" y="10668000"/>
                  </a:lnTo>
                  <a:close/>
                </a:path>
              </a:pathLst>
            </a:custGeom>
            <a:solidFill>
              <a:srgbClr val="27D9F2">
                <a:alpha val="1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446000" cy="1070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847725"/>
            <a:ext cx="57150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PC BUILDER EN ACCIÓN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1447800"/>
            <a:ext cx="7239000" cy="1690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4"/>
              </a:lnSpc>
            </a:pPr>
            <a:r>
              <a:rPr lang="en-US" sz="58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Validación en</a:t>
            </a:r>
          </a:p>
          <a:p>
            <a:pPr algn="l">
              <a:lnSpc>
                <a:spcPts val="6084"/>
              </a:lnSpc>
            </a:pPr>
            <a:r>
              <a:rPr lang="en-US" sz="58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28 milisegundos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4905375"/>
            <a:ext cx="4762500" cy="1433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6"/>
              </a:lnSpc>
            </a:pPr>
            <a:r>
              <a:rPr lang="en-US" sz="9150" b="1">
                <a:solidFill>
                  <a:srgbClr val="31E6A1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100%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6305550"/>
            <a:ext cx="5905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A9BFD0"/>
                </a:solidFill>
                <a:latin typeface="Open Sans"/>
                <a:ea typeface="Open Sans"/>
                <a:cs typeface="Open Sans"/>
                <a:sym typeface="Open Sans"/>
              </a:rPr>
              <a:t>compatibilidad física y energética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7553325"/>
            <a:ext cx="6191250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250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Previene devoluciones y eleva el ticket promedio.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15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8686800" y="621792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A0"/>
                </a:solidFill>
                <a:latin typeface="Arial"/>
              </a:defRPr>
            </a:pPr>
            <a:r>
              <a:t>VALIDACIÓN EN TIEMPO REAL: 28 ms  |  ESTADO: COMPATIBLE 100%</a:t>
            </a:r>
          </a:p>
          <a:p>
            <a:pPr>
              <a:defRPr sz="1100">
                <a:solidFill>
                  <a:srgbClr val="C8D2E6"/>
                </a:solidFill>
                <a:latin typeface="Arial"/>
              </a:defRPr>
            </a:pPr>
            <a:r>
              <a:t>Consumo calculado: 450 Watts  |  Fuente recomendada: 650W  |  Socket: AM5  |  Formato: ATX</a:t>
            </a:r>
            <a:br/>
            <a:r>
              <a:t>Validación multicapa de socket CPU/Placa, Watts vs PSU y factor de forma sin colisiones.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57225"/>
            <a:ext cx="47625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FINTECH ATÓMICO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33475"/>
            <a:ext cx="14287500" cy="73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Checkout seguro y sincronización de estado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3810000"/>
            <a:ext cx="3429000" cy="1428750"/>
            <a:chOff x="0" y="0"/>
            <a:chExt cx="4572000" cy="190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72000" cy="1905000"/>
            </a:xfrm>
            <a:custGeom>
              <a:avLst/>
              <a:gdLst/>
              <a:ahLst/>
              <a:cxnLst/>
              <a:rect l="l" t="t" r="r" b="b"/>
              <a:pathLst>
                <a:path w="4572000" h="1905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1862667"/>
                  </a:lnTo>
                  <a:cubicBezTo>
                    <a:pt x="4572000" y="1873894"/>
                    <a:pt x="4567540" y="1884662"/>
                    <a:pt x="4559601" y="1892601"/>
                  </a:cubicBezTo>
                  <a:cubicBezTo>
                    <a:pt x="4551662" y="1900540"/>
                    <a:pt x="4540894" y="1905000"/>
                    <a:pt x="4529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4572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Crear preferencia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4381500" y="4524375"/>
            <a:ext cx="809625" cy="0"/>
          </a:xfrm>
          <a:prstGeom prst="line">
            <a:avLst/>
          </a:prstGeom>
          <a:ln w="47625" cap="rnd">
            <a:solidFill>
              <a:srgbClr val="27D9F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5286375" y="3810000"/>
            <a:ext cx="3429000" cy="1428750"/>
            <a:chOff x="0" y="0"/>
            <a:chExt cx="4572000" cy="190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2000" cy="1905000"/>
            </a:xfrm>
            <a:custGeom>
              <a:avLst/>
              <a:gdLst/>
              <a:ahLst/>
              <a:cxnLst/>
              <a:rect l="l" t="t" r="r" b="b"/>
              <a:pathLst>
                <a:path w="4572000" h="1905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1862667"/>
                  </a:lnTo>
                  <a:cubicBezTo>
                    <a:pt x="4572000" y="1873894"/>
                    <a:pt x="4567540" y="1884662"/>
                    <a:pt x="4559601" y="1892601"/>
                  </a:cubicBezTo>
                  <a:cubicBezTo>
                    <a:pt x="4551662" y="1900540"/>
                    <a:pt x="4540894" y="1905000"/>
                    <a:pt x="4529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572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Abrir checkout sandbox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715375" y="4524375"/>
            <a:ext cx="809625" cy="0"/>
          </a:xfrm>
          <a:prstGeom prst="line">
            <a:avLst/>
          </a:prstGeom>
          <a:ln w="47625" cap="rnd">
            <a:solidFill>
              <a:srgbClr val="27D9F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9620250" y="3810000"/>
            <a:ext cx="3429000" cy="1428750"/>
            <a:chOff x="0" y="0"/>
            <a:chExt cx="45720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72000" cy="1905000"/>
            </a:xfrm>
            <a:custGeom>
              <a:avLst/>
              <a:gdLst/>
              <a:ahLst/>
              <a:cxnLst/>
              <a:rect l="l" t="t" r="r" b="b"/>
              <a:pathLst>
                <a:path w="4572000" h="1905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1862667"/>
                  </a:lnTo>
                  <a:cubicBezTo>
                    <a:pt x="4572000" y="1873894"/>
                    <a:pt x="4567540" y="1884662"/>
                    <a:pt x="4559601" y="1892601"/>
                  </a:cubicBezTo>
                  <a:cubicBezTo>
                    <a:pt x="4551662" y="1900540"/>
                    <a:pt x="4540894" y="1905000"/>
                    <a:pt x="4529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71426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4572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Aprobar pago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3049250" y="4524375"/>
            <a:ext cx="809625" cy="0"/>
          </a:xfrm>
          <a:prstGeom prst="line">
            <a:avLst/>
          </a:prstGeom>
          <a:ln w="47625" cap="rnd">
            <a:solidFill>
              <a:srgbClr val="27D9F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3954125" y="3810000"/>
            <a:ext cx="3429000" cy="1428750"/>
            <a:chOff x="0" y="0"/>
            <a:chExt cx="45720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2000" cy="1905000"/>
            </a:xfrm>
            <a:custGeom>
              <a:avLst/>
              <a:gdLst/>
              <a:ahLst/>
              <a:cxnLst/>
              <a:rect l="l" t="t" r="r" b="b"/>
              <a:pathLst>
                <a:path w="4572000" h="1905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1862667"/>
                  </a:lnTo>
                  <a:cubicBezTo>
                    <a:pt x="4572000" y="1873894"/>
                    <a:pt x="4567540" y="1884662"/>
                    <a:pt x="4559601" y="1892601"/>
                  </a:cubicBezTo>
                  <a:cubicBezTo>
                    <a:pt x="4551662" y="1900540"/>
                    <a:pt x="4540894" y="1905000"/>
                    <a:pt x="4529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572000" cy="1924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875" b="1">
                  <a:solidFill>
                    <a:srgbClr val="07142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Webhook actualiza orden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524250" y="7680960"/>
            <a:ext cx="112395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25" b="1">
                <a:solidFill>
                  <a:srgbClr val="10243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El estado financiero y la orden convergen automáticamente.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6819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16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7D9F2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349240"/>
            <a:ext cx="105156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4400" y="847725"/>
            <a:ext cx="5905500" cy="25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OPERACIÓN TRANSPARENTE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1457325"/>
            <a:ext cx="6217920" cy="104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3675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Monitoreo vivo.</a:t>
            </a:r>
          </a:p>
          <a:p>
            <a:pPr algn="l">
              <a:lnSpc>
                <a:spcPts val="3822"/>
              </a:lnSpc>
            </a:pPr>
            <a:r>
              <a:rPr lang="en-US" sz="3675" b="1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Documentación reproducible.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5324475"/>
            <a:ext cx="5715000" cy="301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 b="1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PROMETHEUS + GRAFANA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5772150"/>
            <a:ext cx="57150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A9BFD0"/>
                </a:solidFill>
                <a:latin typeface="Open Sans"/>
                <a:ea typeface="Open Sans"/>
                <a:cs typeface="Open Sans"/>
                <a:sym typeface="Open Sans"/>
              </a:rPr>
              <a:t>Métricas, salud y alertas en tiempo real.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134225"/>
            <a:ext cx="5715000" cy="301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 b="1">
                <a:solidFill>
                  <a:srgbClr val="31E6A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MKDOCS + C4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7581900"/>
            <a:ext cx="57150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A9BFD0"/>
                </a:solidFill>
                <a:latin typeface="Open Sans"/>
                <a:ea typeface="Open Sans"/>
                <a:cs typeface="Open Sans"/>
                <a:sym typeface="Open Sans"/>
              </a:rPr>
              <a:t>Guías, APIs y arquitectura como código.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9686925"/>
            <a:ext cx="4953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7D9F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ENIAC LABS  /  17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621000" y="9810750"/>
            <a:ext cx="1752600" cy="28575"/>
            <a:chOff x="0" y="0"/>
            <a:chExt cx="2336800" cy="38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36800" cy="38100"/>
            </a:xfrm>
            <a:custGeom>
              <a:avLst/>
              <a:gdLst/>
              <a:ahLst/>
              <a:cxnLst/>
              <a:rect l="l" t="t" r="r" b="b"/>
              <a:pathLst>
                <a:path w="2336800" h="38100">
                  <a:moveTo>
                    <a:pt x="0" y="0"/>
                  </a:moveTo>
                  <a:lnTo>
                    <a:pt x="2336800" y="0"/>
                  </a:lnTo>
                  <a:lnTo>
                    <a:pt x="2336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1E6A1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3368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pic>
        <p:nvPicPr>
          <p:cNvPr id="13" name="Picture 12" descr="03_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51560"/>
            <a:ext cx="9875520" cy="555040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6903720"/>
            <a:ext cx="4572000" cy="201168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0" y="6903720"/>
            <a:ext cx="493776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727</Words>
  <Application>Microsoft Office PowerPoint</Application>
  <PresentationFormat>Personalizado</PresentationFormat>
  <Paragraphs>177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Calibri</vt:lpstr>
      <vt:lpstr>Open Sans Bold</vt:lpstr>
      <vt:lpstr>IBM Plex Mono</vt:lpstr>
      <vt:lpstr>Arial</vt:lpstr>
      <vt:lpstr>Akzidenz-Grotesk Bold</vt:lpstr>
      <vt:lpstr>Open Sans</vt:lpstr>
      <vt:lpstr>IBM Plex Mono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ENIAC Labs</dc:title>
  <cp:lastModifiedBy>eliceo651@hotmail.com</cp:lastModifiedBy>
  <cp:revision>3</cp:revision>
  <dcterms:created xsi:type="dcterms:W3CDTF">2006-08-16T00:00:00Z</dcterms:created>
  <dcterms:modified xsi:type="dcterms:W3CDTF">2026-09-18T10:58:18Z</dcterms:modified>
  <dc:identifier>DAHVgXKJ6Tg</dc:identifier>
</cp:coreProperties>
</file>